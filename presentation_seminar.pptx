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</p:sldMasterIdLst>
  <p:notesMasterIdLst>
    <p:notesMasterId r:id="rId17"/>
  </p:notesMasterIdLst>
  <p:sldIdLst>
    <p:sldId id="256" r:id="rId2"/>
    <p:sldId id="265" r:id="rId3"/>
    <p:sldId id="264" r:id="rId4"/>
    <p:sldId id="314" r:id="rId5"/>
    <p:sldId id="315" r:id="rId6"/>
    <p:sldId id="287" r:id="rId7"/>
    <p:sldId id="266" r:id="rId8"/>
    <p:sldId id="267" r:id="rId9"/>
    <p:sldId id="269" r:id="rId10"/>
    <p:sldId id="272" r:id="rId11"/>
    <p:sldId id="273" r:id="rId12"/>
    <p:sldId id="305" r:id="rId13"/>
    <p:sldId id="286" r:id="rId14"/>
    <p:sldId id="282" r:id="rId15"/>
    <p:sldId id="313" r:id="rId16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18"/>
    </p:embeddedFont>
    <p:embeddedFont>
      <p:font typeface="Julius Sans One" panose="020B0604020202020204" charset="0"/>
      <p:regular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Questrial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BDBDB"/>
    <a:srgbClr val="EEEEEE"/>
    <a:srgbClr val="000000"/>
    <a:srgbClr val="383838"/>
    <a:srgbClr val="92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C10AD4-9AFF-4263-9148-8BB00D834B25}">
  <a:tblStyle styleId="{47C10AD4-9AFF-4263-9148-8BB00D834B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667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47f2e9a217_0_2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47f2e9a217_0_2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47f2e9a217_0_2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47f2e9a217_0_2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47f2e9a217_0_2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47f2e9a217_0_2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47f2e9a217_0_2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47f2e9a217_0_2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47f2e9a217_0_2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47f2e9a217_0_2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47f2e9a217_0_2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47f2e9a217_0_2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47f2e9a217_0_2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47f2e9a217_0_2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47f2e9a217_0_2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47f2e9a217_0_2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47f2e9a217_0_2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47f2e9a217_0_2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47f2e9a217_0_3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47f2e9a217_0_3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47f2e9a217_0_26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47f2e9a217_0_26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47f2e9a217_0_2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47f2e9a217_0_2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47f2e9a217_0_3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47f2e9a217_0_3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3537625" y="711975"/>
            <a:ext cx="7035600" cy="3277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1255025"/>
            <a:ext cx="4322700" cy="3891000"/>
          </a:xfrm>
          <a:prstGeom prst="rtTriangle">
            <a:avLst/>
          </a:prstGeom>
          <a:solidFill>
            <a:srgbClr val="DBDB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034200" y="0"/>
            <a:ext cx="10867800" cy="5143500"/>
          </a:xfrm>
          <a:prstGeom prst="triangle">
            <a:avLst>
              <a:gd name="adj" fmla="val 49850"/>
            </a:avLst>
          </a:prstGeom>
          <a:solidFill>
            <a:srgbClr val="3838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603058" y="1948236"/>
            <a:ext cx="4543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16899" y="4037775"/>
            <a:ext cx="5829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accent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833927" y="2641577"/>
            <a:ext cx="3100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5209273" y="2641577"/>
            <a:ext cx="31008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554977" y="1985760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 idx="3"/>
          </p:nvPr>
        </p:nvSpPr>
        <p:spPr>
          <a:xfrm>
            <a:off x="5930323" y="1985760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/>
          <p:nvPr/>
        </p:nvSpPr>
        <p:spPr>
          <a:xfrm rot="10800000">
            <a:off x="3588450" y="-22625"/>
            <a:ext cx="1967100" cy="885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accent5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/>
          <p:nvPr/>
        </p:nvSpPr>
        <p:spPr>
          <a:xfrm flipH="1">
            <a:off x="7024500" y="2600625"/>
            <a:ext cx="3405900" cy="3302400"/>
          </a:xfrm>
          <a:prstGeom prst="rtTriangle">
            <a:avLst/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EEEEE"/>
              </a:solidFill>
            </a:endParaRPr>
          </a:p>
        </p:txBody>
      </p:sp>
      <p:sp>
        <p:nvSpPr>
          <p:cNvPr id="34" name="Google Shape;34;p6"/>
          <p:cNvSpPr/>
          <p:nvPr/>
        </p:nvSpPr>
        <p:spPr>
          <a:xfrm flipH="1">
            <a:off x="7128800" y="2600625"/>
            <a:ext cx="3405900" cy="3302400"/>
          </a:xfrm>
          <a:prstGeom prst="rtTriangle">
            <a:avLst/>
          </a:prstGeom>
          <a:solidFill>
            <a:srgbClr val="929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EEEEE"/>
              </a:solidFill>
            </a:endParaRPr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-762425" y="-915550"/>
            <a:ext cx="3405900" cy="3302400"/>
          </a:xfrm>
          <a:prstGeom prst="rtTriangle">
            <a:avLst/>
          </a:prstGeom>
          <a:solidFill>
            <a:srgbClr val="929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EEEEE"/>
              </a:solidFill>
            </a:endParaRPr>
          </a:p>
        </p:txBody>
      </p:sp>
      <p:sp>
        <p:nvSpPr>
          <p:cNvPr id="36" name="Google Shape;36;p6"/>
          <p:cNvSpPr/>
          <p:nvPr/>
        </p:nvSpPr>
        <p:spPr>
          <a:xfrm rot="10800000" flipH="1">
            <a:off x="-1681400" y="-15226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rgbClr val="3838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1">
    <p:bg>
      <p:bgPr>
        <a:solidFill>
          <a:schemeClr val="accent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431100" y="695250"/>
            <a:ext cx="8281800" cy="412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3133650" y="-22775"/>
            <a:ext cx="2876700" cy="1295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948725" y="2351950"/>
            <a:ext cx="7246500" cy="20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29845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948725" y="1327900"/>
            <a:ext cx="7246500" cy="8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30_1">
    <p:bg>
      <p:bgPr>
        <a:solidFill>
          <a:schemeClr val="accent6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/>
        </p:nvSpPr>
        <p:spPr>
          <a:xfrm rot="5400000">
            <a:off x="-3440300" y="-797850"/>
            <a:ext cx="13257600" cy="6739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2"/>
          <p:cNvSpPr/>
          <p:nvPr/>
        </p:nvSpPr>
        <p:spPr>
          <a:xfrm rot="-5400000">
            <a:off x="4398975" y="-370300"/>
            <a:ext cx="5766000" cy="55911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ctrTitle"/>
          </p:nvPr>
        </p:nvSpPr>
        <p:spPr>
          <a:xfrm>
            <a:off x="713225" y="730700"/>
            <a:ext cx="3706800" cy="152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30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1"/>
          </p:nvPr>
        </p:nvSpPr>
        <p:spPr>
          <a:xfrm>
            <a:off x="713225" y="2472000"/>
            <a:ext cx="3678000" cy="19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49" name="Google Shape;149;p22"/>
          <p:cNvSpPr/>
          <p:nvPr/>
        </p:nvSpPr>
        <p:spPr>
          <a:xfrm rot="-2700000">
            <a:off x="4008372" y="-4515765"/>
            <a:ext cx="5766173" cy="5590952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0" name="Google Shape;150;p22"/>
          <p:cNvCxnSpPr/>
          <p:nvPr/>
        </p:nvCxnSpPr>
        <p:spPr>
          <a:xfrm rot="10800000" flipH="1">
            <a:off x="4562550" y="-204075"/>
            <a:ext cx="6010200" cy="618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7">
    <p:bg>
      <p:bgPr>
        <a:solidFill>
          <a:schemeClr val="accent5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1176825" y="2158150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subTitle" idx="1"/>
          </p:nvPr>
        </p:nvSpPr>
        <p:spPr>
          <a:xfrm>
            <a:off x="713225" y="24592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95" name="Google Shape;195;p29"/>
          <p:cNvSpPr txBox="1">
            <a:spLocks noGrp="1"/>
          </p:cNvSpPr>
          <p:nvPr>
            <p:ph type="title" idx="2"/>
          </p:nvPr>
        </p:nvSpPr>
        <p:spPr>
          <a:xfrm>
            <a:off x="6468199" y="2158150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subTitle" idx="3"/>
          </p:nvPr>
        </p:nvSpPr>
        <p:spPr>
          <a:xfrm>
            <a:off x="6004683" y="24592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4"/>
          </p:nvPr>
        </p:nvSpPr>
        <p:spPr>
          <a:xfrm>
            <a:off x="3822450" y="2158150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5"/>
          </p:nvPr>
        </p:nvSpPr>
        <p:spPr>
          <a:xfrm>
            <a:off x="3358950" y="24592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3198450" y="3764666"/>
            <a:ext cx="2727900" cy="14163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9"/>
          <p:cNvSpPr txBox="1">
            <a:spLocks noGrp="1"/>
          </p:cNvSpPr>
          <p:nvPr>
            <p:ph type="title" idx="6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32_1">
    <p:bg>
      <p:bgPr>
        <a:solidFill>
          <a:schemeClr val="accent5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 rot="5400000" flipH="1">
            <a:off x="-3170100" y="96925"/>
            <a:ext cx="10676100" cy="48081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title"/>
          </p:nvPr>
        </p:nvSpPr>
        <p:spPr>
          <a:xfrm>
            <a:off x="5621850" y="1032225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subTitle" idx="1"/>
          </p:nvPr>
        </p:nvSpPr>
        <p:spPr>
          <a:xfrm>
            <a:off x="5295600" y="1276125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title" idx="2"/>
          </p:nvPr>
        </p:nvSpPr>
        <p:spPr>
          <a:xfrm>
            <a:off x="713225" y="2279700"/>
            <a:ext cx="3328800" cy="5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3"/>
          </p:nvPr>
        </p:nvSpPr>
        <p:spPr>
          <a:xfrm>
            <a:off x="5621850" y="2460810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4"/>
          </p:nvPr>
        </p:nvSpPr>
        <p:spPr>
          <a:xfrm>
            <a:off x="5295600" y="2709472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title" idx="5"/>
          </p:nvPr>
        </p:nvSpPr>
        <p:spPr>
          <a:xfrm>
            <a:off x="5621850" y="3877419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type="subTitle" idx="6"/>
          </p:nvPr>
        </p:nvSpPr>
        <p:spPr>
          <a:xfrm>
            <a:off x="5295600" y="4126082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10" name="Google Shape;210;p30"/>
          <p:cNvSpPr/>
          <p:nvPr/>
        </p:nvSpPr>
        <p:spPr>
          <a:xfrm rot="10800000">
            <a:off x="6984125" y="-614375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30"/>
          <p:cNvSpPr/>
          <p:nvPr/>
        </p:nvSpPr>
        <p:spPr>
          <a:xfrm rot="10800000">
            <a:off x="7044125" y="-709625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30"/>
          <p:cNvSpPr/>
          <p:nvPr/>
        </p:nvSpPr>
        <p:spPr>
          <a:xfrm flipH="1">
            <a:off x="7963400" y="3988625"/>
            <a:ext cx="1355400" cy="13143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7338200" y="4256000"/>
            <a:ext cx="2913300" cy="13665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2_1">
    <p:bg>
      <p:bgPr>
        <a:solidFill>
          <a:schemeClr val="accent5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9"/>
          <p:cNvSpPr txBox="1">
            <a:spLocks noGrp="1"/>
          </p:cNvSpPr>
          <p:nvPr>
            <p:ph type="title"/>
          </p:nvPr>
        </p:nvSpPr>
        <p:spPr>
          <a:xfrm>
            <a:off x="892050" y="530725"/>
            <a:ext cx="7359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8" name="Google Shape;288;p39"/>
          <p:cNvSpPr/>
          <p:nvPr/>
        </p:nvSpPr>
        <p:spPr>
          <a:xfrm rot="10800000" flipH="1">
            <a:off x="-287750" y="-113775"/>
            <a:ext cx="2978700" cy="3082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9"/>
          <p:cNvSpPr/>
          <p:nvPr/>
        </p:nvSpPr>
        <p:spPr>
          <a:xfrm>
            <a:off x="5008975" y="1687000"/>
            <a:ext cx="7403100" cy="37941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8">
    <p:bg>
      <p:bgPr>
        <a:solidFill>
          <a:schemeClr val="dk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"/>
          <p:cNvSpPr/>
          <p:nvPr/>
        </p:nvSpPr>
        <p:spPr>
          <a:xfrm>
            <a:off x="4165600" y="2820426"/>
            <a:ext cx="8077200" cy="38757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31" name="Google Shape;331;p43"/>
          <p:cNvSpPr/>
          <p:nvPr/>
        </p:nvSpPr>
        <p:spPr>
          <a:xfrm rot="10800000">
            <a:off x="-1006525" y="-294700"/>
            <a:ext cx="4029300" cy="1933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/>
          </p:nvPr>
        </p:nvSpPr>
        <p:spPr>
          <a:xfrm>
            <a:off x="713250" y="672738"/>
            <a:ext cx="7717500" cy="12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50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body" idx="1"/>
          </p:nvPr>
        </p:nvSpPr>
        <p:spPr>
          <a:xfrm>
            <a:off x="3068250" y="2129523"/>
            <a:ext cx="3007500" cy="6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34" name="Google Shape;334;p43"/>
          <p:cNvSpPr txBox="1"/>
          <p:nvPr/>
        </p:nvSpPr>
        <p:spPr>
          <a:xfrm>
            <a:off x="2483550" y="3392650"/>
            <a:ext cx="41769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icons, infographics &amp; images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100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2"/>
          </p:nvPr>
        </p:nvSpPr>
        <p:spPr>
          <a:xfrm>
            <a:off x="3069175" y="1843125"/>
            <a:ext cx="30075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21_1_3">
    <p:bg>
      <p:bgPr>
        <a:solidFill>
          <a:schemeClr val="dk1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"/>
          <p:cNvSpPr txBox="1">
            <a:spLocks noGrp="1"/>
          </p:cNvSpPr>
          <p:nvPr>
            <p:ph type="body" idx="1"/>
          </p:nvPr>
        </p:nvSpPr>
        <p:spPr>
          <a:xfrm>
            <a:off x="713225" y="2347850"/>
            <a:ext cx="4941600" cy="22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50" name="Google Shape;350;p46"/>
          <p:cNvSpPr txBox="1">
            <a:spLocks noGrp="1"/>
          </p:cNvSpPr>
          <p:nvPr>
            <p:ph type="title"/>
          </p:nvPr>
        </p:nvSpPr>
        <p:spPr>
          <a:xfrm>
            <a:off x="713225" y="1061025"/>
            <a:ext cx="5218800" cy="9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3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1" name="Google Shape;351;p46"/>
          <p:cNvSpPr/>
          <p:nvPr/>
        </p:nvSpPr>
        <p:spPr>
          <a:xfrm rot="5400000">
            <a:off x="-761012" y="-790512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52" name="Google Shape;352;p46"/>
          <p:cNvSpPr/>
          <p:nvPr/>
        </p:nvSpPr>
        <p:spPr>
          <a:xfrm rot="5400000">
            <a:off x="-856262" y="-1009587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53" name="Google Shape;353;p46"/>
          <p:cNvSpPr/>
          <p:nvPr/>
        </p:nvSpPr>
        <p:spPr>
          <a:xfrm rot="-5400000">
            <a:off x="2896850" y="288000"/>
            <a:ext cx="10141200" cy="45675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2">
  <p:cSld name="SECTION_TITLE_AND_DESCRIPTION_2">
    <p:bg>
      <p:bgPr>
        <a:solidFill>
          <a:schemeClr val="accent5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"/>
          <p:cNvSpPr/>
          <p:nvPr/>
        </p:nvSpPr>
        <p:spPr>
          <a:xfrm rot="5400000">
            <a:off x="-64425" y="64350"/>
            <a:ext cx="4243200" cy="4114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47"/>
          <p:cNvSpPr/>
          <p:nvPr/>
        </p:nvSpPr>
        <p:spPr>
          <a:xfrm rot="-5400000" flipH="1">
            <a:off x="4941700" y="26525"/>
            <a:ext cx="4364700" cy="42276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7"/>
          <p:cNvSpPr txBox="1">
            <a:spLocks noGrp="1"/>
          </p:cNvSpPr>
          <p:nvPr>
            <p:ph type="ctrTitle"/>
          </p:nvPr>
        </p:nvSpPr>
        <p:spPr>
          <a:xfrm>
            <a:off x="1690800" y="1707225"/>
            <a:ext cx="5762400" cy="14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3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 b="1"/>
            </a:lvl9pPr>
          </a:lstStyle>
          <a:p>
            <a:endParaRPr/>
          </a:p>
        </p:txBody>
      </p:sp>
      <p:sp>
        <p:nvSpPr>
          <p:cNvPr id="358" name="Google Shape;358;p47"/>
          <p:cNvSpPr txBox="1">
            <a:spLocks noGrp="1"/>
          </p:cNvSpPr>
          <p:nvPr>
            <p:ph type="subTitle" idx="1"/>
          </p:nvPr>
        </p:nvSpPr>
        <p:spPr>
          <a:xfrm>
            <a:off x="1431175" y="3334300"/>
            <a:ext cx="6281400" cy="11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idact Gothic"/>
              <a:buNone/>
              <a:defRPr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0_3">
    <p:bg>
      <p:bgPr>
        <a:solidFill>
          <a:schemeClr val="accent5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/>
          <p:nvPr/>
        </p:nvSpPr>
        <p:spPr>
          <a:xfrm rot="-5400000">
            <a:off x="5236050" y="1293550"/>
            <a:ext cx="3924900" cy="3891000"/>
          </a:xfrm>
          <a:prstGeom prst="rtTriangle">
            <a:avLst/>
          </a:prstGeom>
          <a:solidFill>
            <a:srgbClr val="6868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9"/>
          <p:cNvSpPr/>
          <p:nvPr/>
        </p:nvSpPr>
        <p:spPr>
          <a:xfrm rot="10800000" flipH="1">
            <a:off x="37875" y="150"/>
            <a:ext cx="9106200" cy="44697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49"/>
          <p:cNvSpPr/>
          <p:nvPr/>
        </p:nvSpPr>
        <p:spPr>
          <a:xfrm flipH="1">
            <a:off x="3580800" y="1387275"/>
            <a:ext cx="9554400" cy="4859700"/>
          </a:xfrm>
          <a:prstGeom prst="triangle">
            <a:avLst>
              <a:gd name="adj" fmla="val 4942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49"/>
          <p:cNvSpPr txBox="1">
            <a:spLocks noGrp="1"/>
          </p:cNvSpPr>
          <p:nvPr>
            <p:ph type="ctrTitle"/>
          </p:nvPr>
        </p:nvSpPr>
        <p:spPr>
          <a:xfrm>
            <a:off x="816825" y="1232050"/>
            <a:ext cx="5762400" cy="5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70" name="Google Shape;370;p49"/>
          <p:cNvSpPr txBox="1">
            <a:spLocks noGrp="1"/>
          </p:cNvSpPr>
          <p:nvPr>
            <p:ph type="subTitle" idx="1"/>
          </p:nvPr>
        </p:nvSpPr>
        <p:spPr>
          <a:xfrm>
            <a:off x="816825" y="1873375"/>
            <a:ext cx="5762400" cy="15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4">
  <p:cSld name="CUSTOM_1_1_5">
    <p:bg>
      <p:bgPr>
        <a:solidFill>
          <a:schemeClr val="accent5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>
            <a:spLocks noGrp="1"/>
          </p:cNvSpPr>
          <p:nvPr>
            <p:ph type="title"/>
          </p:nvPr>
        </p:nvSpPr>
        <p:spPr>
          <a:xfrm>
            <a:off x="1319574" y="201112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subTitle" idx="1"/>
          </p:nvPr>
        </p:nvSpPr>
        <p:spPr>
          <a:xfrm>
            <a:off x="1319576" y="2286575"/>
            <a:ext cx="2221500" cy="5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title" idx="2"/>
          </p:nvPr>
        </p:nvSpPr>
        <p:spPr>
          <a:xfrm>
            <a:off x="4681398" y="201127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7" name="Google Shape;387;p52"/>
          <p:cNvSpPr txBox="1">
            <a:spLocks noGrp="1"/>
          </p:cNvSpPr>
          <p:nvPr>
            <p:ph type="subTitle" idx="3"/>
          </p:nvPr>
        </p:nvSpPr>
        <p:spPr>
          <a:xfrm>
            <a:off x="4681376" y="2285050"/>
            <a:ext cx="2221500" cy="5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88" name="Google Shape;388;p52"/>
          <p:cNvSpPr txBox="1">
            <a:spLocks noGrp="1"/>
          </p:cNvSpPr>
          <p:nvPr>
            <p:ph type="title" idx="4"/>
          </p:nvPr>
        </p:nvSpPr>
        <p:spPr>
          <a:xfrm>
            <a:off x="2410949" y="326842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9" name="Google Shape;389;p52"/>
          <p:cNvSpPr txBox="1">
            <a:spLocks noGrp="1"/>
          </p:cNvSpPr>
          <p:nvPr>
            <p:ph type="subTitle" idx="5"/>
          </p:nvPr>
        </p:nvSpPr>
        <p:spPr>
          <a:xfrm>
            <a:off x="2410951" y="3543875"/>
            <a:ext cx="2221500" cy="5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90" name="Google Shape;390;p52"/>
          <p:cNvSpPr txBox="1">
            <a:spLocks noGrp="1"/>
          </p:cNvSpPr>
          <p:nvPr>
            <p:ph type="title" idx="6"/>
          </p:nvPr>
        </p:nvSpPr>
        <p:spPr>
          <a:xfrm>
            <a:off x="5772773" y="326857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1" name="Google Shape;391;p52"/>
          <p:cNvSpPr txBox="1">
            <a:spLocks noGrp="1"/>
          </p:cNvSpPr>
          <p:nvPr>
            <p:ph type="subTitle" idx="7"/>
          </p:nvPr>
        </p:nvSpPr>
        <p:spPr>
          <a:xfrm>
            <a:off x="5772750" y="3542350"/>
            <a:ext cx="2221500" cy="5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392" name="Google Shape;392;p52"/>
          <p:cNvSpPr/>
          <p:nvPr/>
        </p:nvSpPr>
        <p:spPr>
          <a:xfrm rot="-5400000">
            <a:off x="7319425" y="3228300"/>
            <a:ext cx="2112600" cy="2048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52"/>
          <p:cNvSpPr/>
          <p:nvPr/>
        </p:nvSpPr>
        <p:spPr>
          <a:xfrm>
            <a:off x="-519650" y="2386850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94" name="Google Shape;394;p52"/>
          <p:cNvSpPr/>
          <p:nvPr/>
        </p:nvSpPr>
        <p:spPr>
          <a:xfrm>
            <a:off x="-738725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95" name="Google Shape;395;p52"/>
          <p:cNvSpPr/>
          <p:nvPr/>
        </p:nvSpPr>
        <p:spPr>
          <a:xfrm rot="10800000">
            <a:off x="6727825" y="-9155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52"/>
          <p:cNvSpPr/>
          <p:nvPr/>
        </p:nvSpPr>
        <p:spPr>
          <a:xfrm rot="5400000">
            <a:off x="-262475" y="-1889875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p52"/>
          <p:cNvSpPr txBox="1">
            <a:spLocks noGrp="1"/>
          </p:cNvSpPr>
          <p:nvPr>
            <p:ph type="title" idx="8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000"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6250" y="597425"/>
            <a:ext cx="789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6250" y="1304875"/>
            <a:ext cx="7891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6" r:id="rId6"/>
    <p:sldLayoutId id="2147483658" r:id="rId7"/>
    <p:sldLayoutId id="2147483665" r:id="rId8"/>
    <p:sldLayoutId id="2147483668" r:id="rId9"/>
    <p:sldLayoutId id="2147483675" r:id="rId10"/>
    <p:sldLayoutId id="2147483676" r:id="rId11"/>
    <p:sldLayoutId id="2147483685" r:id="rId12"/>
    <p:sldLayoutId id="2147483689" r:id="rId13"/>
    <p:sldLayoutId id="2147483692" r:id="rId14"/>
    <p:sldLayoutId id="2147483693" r:id="rId15"/>
    <p:sldLayoutId id="2147483695" r:id="rId16"/>
    <p:sldLayoutId id="214748369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>
            <a:spLocks noGrp="1"/>
          </p:cNvSpPr>
          <p:nvPr>
            <p:ph type="ctrTitle"/>
          </p:nvPr>
        </p:nvSpPr>
        <p:spPr>
          <a:xfrm>
            <a:off x="4052763" y="1814054"/>
            <a:ext cx="4543500" cy="20524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dirty="0"/>
              <a:t>CI/CD: Automating the Software Development Lifecycle</a:t>
            </a:r>
            <a:endParaRPr lang="en-IN" sz="3200" dirty="0"/>
          </a:p>
        </p:txBody>
      </p:sp>
      <p:sp>
        <p:nvSpPr>
          <p:cNvPr id="440" name="Google Shape;440;p63"/>
          <p:cNvSpPr txBox="1">
            <a:spLocks noGrp="1"/>
          </p:cNvSpPr>
          <p:nvPr>
            <p:ph type="subTitle" idx="1"/>
          </p:nvPr>
        </p:nvSpPr>
        <p:spPr>
          <a:xfrm>
            <a:off x="5038413" y="4037775"/>
            <a:ext cx="3557850" cy="476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VAIBHAV KARBHANTNAL – 1BY23MC097</a:t>
            </a:r>
          </a:p>
        </p:txBody>
      </p:sp>
      <p:cxnSp>
        <p:nvCxnSpPr>
          <p:cNvPr id="441" name="Google Shape;441;p63"/>
          <p:cNvCxnSpPr>
            <a:cxnSpLocks/>
          </p:cNvCxnSpPr>
          <p:nvPr/>
        </p:nvCxnSpPr>
        <p:spPr>
          <a:xfrm>
            <a:off x="6621517" y="3952168"/>
            <a:ext cx="1856414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702EF92-E39B-F605-2195-2ECA09B08703}"/>
              </a:ext>
            </a:extLst>
          </p:cNvPr>
          <p:cNvSpPr txBox="1"/>
          <p:nvPr/>
        </p:nvSpPr>
        <p:spPr>
          <a:xfrm>
            <a:off x="494913" y="163223"/>
            <a:ext cx="4543500" cy="914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BMS Institute of Technology and Management</a:t>
            </a:r>
            <a:endParaRPr lang="en-IN" sz="1200" dirty="0">
              <a:solidFill>
                <a:srgbClr val="383838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100" b="1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(An Autonomous Institution, Affiliated to VTU Belagavi)</a:t>
            </a:r>
            <a:endParaRPr lang="en-IN" sz="1100" dirty="0">
              <a:solidFill>
                <a:srgbClr val="383838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100" b="1" dirty="0">
                <a:solidFill>
                  <a:srgbClr val="383838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MCA</a:t>
            </a:r>
            <a:endParaRPr lang="en-IN" sz="1100" dirty="0">
              <a:solidFill>
                <a:srgbClr val="383838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4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>
            <a:spLocks noGrp="1"/>
          </p:cNvSpPr>
          <p:nvPr>
            <p:ph type="body" idx="1"/>
          </p:nvPr>
        </p:nvSpPr>
        <p:spPr>
          <a:xfrm>
            <a:off x="713225" y="2571750"/>
            <a:ext cx="4959442" cy="22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rgbClr val="DBDBDB"/>
              </a:buClr>
            </a:pPr>
            <a:r>
              <a:rPr lang="en-GB" dirty="0">
                <a:solidFill>
                  <a:srgbClr val="DBDBDB"/>
                </a:solidFill>
              </a:rPr>
              <a:t>CI: </a:t>
            </a:r>
            <a:r>
              <a:rPr lang="en-GB" b="1" dirty="0">
                <a:solidFill>
                  <a:srgbClr val="DBDBDB"/>
                </a:solidFill>
              </a:rPr>
              <a:t>Continuous Integration</a:t>
            </a:r>
            <a:r>
              <a:rPr lang="en-GB" dirty="0">
                <a:solidFill>
                  <a:srgbClr val="DBDBDB"/>
                </a:solidFill>
              </a:rPr>
              <a:t> — Code changes are integrated 	frequently and tested</a:t>
            </a:r>
          </a:p>
          <a:p>
            <a:pPr marL="285750" indent="-285750">
              <a:buClr>
                <a:srgbClr val="DBDBDB"/>
              </a:buClr>
            </a:pPr>
            <a:r>
              <a:rPr lang="en-GB" dirty="0">
                <a:solidFill>
                  <a:srgbClr val="DBDBDB"/>
                </a:solidFill>
              </a:rPr>
              <a:t>CD: </a:t>
            </a:r>
            <a:r>
              <a:rPr lang="en-GB" b="1" dirty="0">
                <a:solidFill>
                  <a:srgbClr val="DBDBDB"/>
                </a:solidFill>
              </a:rPr>
              <a:t>Continuous Delivery/Deployment</a:t>
            </a:r>
            <a:r>
              <a:rPr lang="en-GB" dirty="0">
                <a:solidFill>
                  <a:srgbClr val="DBDBDB"/>
                </a:solidFill>
              </a:rPr>
              <a:t> — Code is released 	frequently (manually or automatically)</a:t>
            </a:r>
          </a:p>
          <a:p>
            <a:pPr marL="285750" indent="-285750">
              <a:buClr>
                <a:srgbClr val="DBDBDB"/>
              </a:buClr>
            </a:pPr>
            <a:r>
              <a:rPr lang="en-GB" dirty="0">
                <a:solidFill>
                  <a:srgbClr val="DBDBDB"/>
                </a:solidFill>
              </a:rPr>
              <a:t>Goal: Deliver code frequently, reliably, and quickly</a:t>
            </a:r>
            <a:endParaRPr dirty="0">
              <a:solidFill>
                <a:srgbClr val="DBDBDB"/>
              </a:solidFill>
            </a:endParaRPr>
          </a:p>
        </p:txBody>
      </p:sp>
      <p:sp>
        <p:nvSpPr>
          <p:cNvPr id="532" name="Google Shape;532;p72"/>
          <p:cNvSpPr txBox="1">
            <a:spLocks noGrp="1"/>
          </p:cNvSpPr>
          <p:nvPr>
            <p:ph type="title"/>
          </p:nvPr>
        </p:nvSpPr>
        <p:spPr>
          <a:xfrm>
            <a:off x="713225" y="1061025"/>
            <a:ext cx="5218800" cy="9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What is CI/CD?</a:t>
            </a:r>
            <a:endParaRPr dirty="0"/>
          </a:p>
        </p:txBody>
      </p:sp>
      <p:cxnSp>
        <p:nvCxnSpPr>
          <p:cNvPr id="533" name="Google Shape;533;p72"/>
          <p:cNvCxnSpPr>
            <a:cxnSpLocks/>
          </p:cNvCxnSpPr>
          <p:nvPr/>
        </p:nvCxnSpPr>
        <p:spPr>
          <a:xfrm>
            <a:off x="851125" y="2260832"/>
            <a:ext cx="127722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1"/>
          <p:cNvSpPr txBox="1">
            <a:spLocks noGrp="1"/>
          </p:cNvSpPr>
          <p:nvPr>
            <p:ph type="body" idx="1"/>
          </p:nvPr>
        </p:nvSpPr>
        <p:spPr>
          <a:xfrm>
            <a:off x="778200" y="2580550"/>
            <a:ext cx="7587600" cy="11001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Developers merge code into shared repo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Automatic testing (unit tests, builds)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Benefits: Catch bugs early, improve code quality, reduce integration pain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Tools: Jenkins, GitHub Actions, Travis CI</a:t>
            </a:r>
          </a:p>
        </p:txBody>
      </p:sp>
      <p:sp>
        <p:nvSpPr>
          <p:cNvPr id="525" name="Google Shape;525;p71"/>
          <p:cNvSpPr txBox="1">
            <a:spLocks noGrp="1"/>
          </p:cNvSpPr>
          <p:nvPr>
            <p:ph type="title" idx="4294967295"/>
          </p:nvPr>
        </p:nvSpPr>
        <p:spPr>
          <a:xfrm>
            <a:off x="778200" y="1597306"/>
            <a:ext cx="6791643" cy="6811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What is Continuous Integration (CI)?</a:t>
            </a:r>
            <a:endParaRPr lang="en-IN" b="1" dirty="0"/>
          </a:p>
        </p:txBody>
      </p:sp>
      <p:cxnSp>
        <p:nvCxnSpPr>
          <p:cNvPr id="526" name="Google Shape;526;p71"/>
          <p:cNvCxnSpPr>
            <a:cxnSpLocks/>
          </p:cNvCxnSpPr>
          <p:nvPr/>
        </p:nvCxnSpPr>
        <p:spPr>
          <a:xfrm>
            <a:off x="3796767" y="2308212"/>
            <a:ext cx="155046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CFFB4B6-93E7-60C0-C88A-AF4A884FCDE9}"/>
              </a:ext>
            </a:extLst>
          </p:cNvPr>
          <p:cNvSpPr/>
          <p:nvPr/>
        </p:nvSpPr>
        <p:spPr>
          <a:xfrm rot="10800000">
            <a:off x="3379806" y="173619"/>
            <a:ext cx="2419109" cy="112156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FB338-F238-FBF5-7169-36E2C99BD79E}"/>
              </a:ext>
            </a:extLst>
          </p:cNvPr>
          <p:cNvSpPr/>
          <p:nvPr/>
        </p:nvSpPr>
        <p:spPr>
          <a:xfrm>
            <a:off x="449580" y="-370704"/>
            <a:ext cx="8237220" cy="1051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3FFBBD5F-A2BC-EA3E-30CC-6E23E18540DB}"/>
              </a:ext>
            </a:extLst>
          </p:cNvPr>
          <p:cNvSpPr/>
          <p:nvPr/>
        </p:nvSpPr>
        <p:spPr>
          <a:xfrm rot="10800000">
            <a:off x="3001219" y="-98368"/>
            <a:ext cx="3141560" cy="1393549"/>
          </a:xfrm>
          <a:prstGeom prst="triangle">
            <a:avLst>
              <a:gd name="adj" fmla="val 4973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16 -0.29784 L 0.00816 0.005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306388-CF40-8F34-DC29-171034449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1F41E3-83AC-C89A-8700-FE999B2A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BF56F8-3E93-051D-DC88-6A21EA8F9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725" y="1327900"/>
            <a:ext cx="7287642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994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6AF3C83-372F-C3D2-CD0E-7EE18B9B1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8" y="131385"/>
            <a:ext cx="5218800" cy="33437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C9E3BD-DEC5-7B65-AAF9-76DFFA762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799" y="2798097"/>
            <a:ext cx="4447569" cy="2142687"/>
          </a:xfrm>
          <a:prstGeom prst="rect">
            <a:avLst/>
          </a:prstGeom>
        </p:spPr>
      </p:pic>
      <p:sp>
        <p:nvSpPr>
          <p:cNvPr id="13" name="Google Shape;692;p89">
            <a:extLst>
              <a:ext uri="{FF2B5EF4-FFF2-40B4-BE49-F238E27FC236}">
                <a16:creationId xmlns:a16="http://schemas.microsoft.com/office/drawing/2014/main" id="{DD2D96A3-DD37-D0A8-9F7C-46291C1ADA1F}"/>
              </a:ext>
            </a:extLst>
          </p:cNvPr>
          <p:cNvSpPr txBox="1">
            <a:spLocks/>
          </p:cNvSpPr>
          <p:nvPr/>
        </p:nvSpPr>
        <p:spPr>
          <a:xfrm>
            <a:off x="6793514" y="2021403"/>
            <a:ext cx="3203926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30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1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pPr algn="l"/>
            <a:r>
              <a:rPr lang="en-GB" sz="1500" dirty="0" err="1"/>
              <a:t>Contineous</a:t>
            </a:r>
            <a:r>
              <a:rPr lang="en-GB" sz="1500" dirty="0"/>
              <a:t> Integration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32194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52 -0.00124 L -0.00052 0.00154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94"/>
          <p:cNvSpPr txBox="1">
            <a:spLocks noGrp="1"/>
          </p:cNvSpPr>
          <p:nvPr>
            <p:ph type="title"/>
          </p:nvPr>
        </p:nvSpPr>
        <p:spPr>
          <a:xfrm>
            <a:off x="5621850" y="1032225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Delivery</a:t>
            </a:r>
            <a:endParaRPr dirty="0"/>
          </a:p>
        </p:txBody>
      </p:sp>
      <p:sp>
        <p:nvSpPr>
          <p:cNvPr id="768" name="Google Shape;768;p94"/>
          <p:cNvSpPr txBox="1">
            <a:spLocks noGrp="1"/>
          </p:cNvSpPr>
          <p:nvPr>
            <p:ph type="subTitle" idx="1"/>
          </p:nvPr>
        </p:nvSpPr>
        <p:spPr>
          <a:xfrm>
            <a:off x="5295600" y="1276125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Ready to deploy any time (manual release)</a:t>
            </a:r>
            <a:endParaRPr dirty="0"/>
          </a:p>
        </p:txBody>
      </p:sp>
      <p:sp>
        <p:nvSpPr>
          <p:cNvPr id="769" name="Google Shape;769;p94"/>
          <p:cNvSpPr txBox="1">
            <a:spLocks noGrp="1"/>
          </p:cNvSpPr>
          <p:nvPr>
            <p:ph type="title" idx="2"/>
          </p:nvPr>
        </p:nvSpPr>
        <p:spPr>
          <a:xfrm>
            <a:off x="523246" y="1548623"/>
            <a:ext cx="3565107" cy="16254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sz="2400" dirty="0"/>
              <a:t>What is Continuous Delivery/Deployment (CD)?</a:t>
            </a:r>
            <a:endParaRPr sz="2400" dirty="0"/>
          </a:p>
        </p:txBody>
      </p:sp>
      <p:sp>
        <p:nvSpPr>
          <p:cNvPr id="770" name="Google Shape;770;p94"/>
          <p:cNvSpPr txBox="1">
            <a:spLocks noGrp="1"/>
          </p:cNvSpPr>
          <p:nvPr>
            <p:ph type="title" idx="3"/>
          </p:nvPr>
        </p:nvSpPr>
        <p:spPr>
          <a:xfrm>
            <a:off x="5621850" y="2460810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Deployment</a:t>
            </a:r>
            <a:endParaRPr dirty="0"/>
          </a:p>
        </p:txBody>
      </p:sp>
      <p:sp>
        <p:nvSpPr>
          <p:cNvPr id="771" name="Google Shape;771;p94"/>
          <p:cNvSpPr txBox="1">
            <a:spLocks noGrp="1"/>
          </p:cNvSpPr>
          <p:nvPr>
            <p:ph type="subTitle" idx="4"/>
          </p:nvPr>
        </p:nvSpPr>
        <p:spPr>
          <a:xfrm>
            <a:off x="5295600" y="2709472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Auto-release after tests pass</a:t>
            </a:r>
            <a:endParaRPr dirty="0"/>
          </a:p>
        </p:txBody>
      </p:sp>
      <p:sp>
        <p:nvSpPr>
          <p:cNvPr id="772" name="Google Shape;772;p94"/>
          <p:cNvSpPr txBox="1">
            <a:spLocks noGrp="1"/>
          </p:cNvSpPr>
          <p:nvPr>
            <p:ph type="title" idx="5"/>
          </p:nvPr>
        </p:nvSpPr>
        <p:spPr>
          <a:xfrm>
            <a:off x="5623285" y="3797948"/>
            <a:ext cx="1763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dirty="0"/>
              <a:t>Tools</a:t>
            </a:r>
            <a:endParaRPr dirty="0"/>
          </a:p>
        </p:txBody>
      </p:sp>
      <p:sp>
        <p:nvSpPr>
          <p:cNvPr id="773" name="Google Shape;773;p94"/>
          <p:cNvSpPr txBox="1">
            <a:spLocks noGrp="1"/>
          </p:cNvSpPr>
          <p:nvPr>
            <p:ph type="subTitle" idx="6"/>
          </p:nvPr>
        </p:nvSpPr>
        <p:spPr>
          <a:xfrm>
            <a:off x="5297035" y="4046611"/>
            <a:ext cx="24162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it-IT" dirty="0"/>
              <a:t>GitLab CI/CD, ArgoCD, Spinnaker</a:t>
            </a:r>
            <a:endParaRPr dirty="0"/>
          </a:p>
        </p:txBody>
      </p:sp>
      <p:cxnSp>
        <p:nvCxnSpPr>
          <p:cNvPr id="774" name="Google Shape;774;p94"/>
          <p:cNvCxnSpPr>
            <a:cxnSpLocks/>
          </p:cNvCxnSpPr>
          <p:nvPr/>
        </p:nvCxnSpPr>
        <p:spPr>
          <a:xfrm>
            <a:off x="349856" y="1696491"/>
            <a:ext cx="0" cy="140757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FB45B07D-0C33-24D6-62B7-740EB9B2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477" y="518178"/>
            <a:ext cx="451435" cy="45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AAECCE-6322-4B95-1506-BBC6C7709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752" y="1950277"/>
            <a:ext cx="450000" cy="4500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38BA04A-3F33-C8E1-9071-4A1206B97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912" y="3270524"/>
            <a:ext cx="450000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E4C789DC-1188-D22F-BE0E-BFF72BD7A7AD}"/>
              </a:ext>
            </a:extLst>
          </p:cNvPr>
          <p:cNvSpPr/>
          <p:nvPr/>
        </p:nvSpPr>
        <p:spPr>
          <a:xfrm>
            <a:off x="-220716" y="428848"/>
            <a:ext cx="3377802" cy="1017189"/>
          </a:xfrm>
          <a:prstGeom prst="snip1Rect">
            <a:avLst>
              <a:gd name="adj" fmla="val 50000"/>
            </a:avLst>
          </a:prstGeom>
          <a:solidFill>
            <a:srgbClr val="DBDB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AAEF543-A0A8-0261-9763-5D957A31AD2F}"/>
              </a:ext>
            </a:extLst>
          </p:cNvPr>
          <p:cNvSpPr/>
          <p:nvPr/>
        </p:nvSpPr>
        <p:spPr>
          <a:xfrm rot="2642363">
            <a:off x="7592755" y="-337836"/>
            <a:ext cx="2820776" cy="1267643"/>
          </a:xfrm>
          <a:prstGeom prst="triangle">
            <a:avLst>
              <a:gd name="adj" fmla="val 50317"/>
            </a:avLst>
          </a:prstGeom>
          <a:solidFill>
            <a:srgbClr val="FFFFFF"/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8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8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2.59259E-6 L 0.11875 -0.1956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-97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2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7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" grpId="0"/>
      <p:bldP spid="771" grpId="0" build="p"/>
      <p:bldP spid="772" grpId="1"/>
      <p:bldP spid="773" grpId="0" build="p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3"/>
          <p:cNvSpPr txBox="1">
            <a:spLocks noGrp="1"/>
          </p:cNvSpPr>
          <p:nvPr>
            <p:ph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CI/CD Pipeline Stages</a:t>
            </a:r>
            <a:endParaRPr dirty="0"/>
          </a:p>
        </p:txBody>
      </p:sp>
      <p:cxnSp>
        <p:nvCxnSpPr>
          <p:cNvPr id="539" name="Google Shape;539;p73"/>
          <p:cNvCxnSpPr>
            <a:cxnSpLocks/>
          </p:cNvCxnSpPr>
          <p:nvPr/>
        </p:nvCxnSpPr>
        <p:spPr>
          <a:xfrm>
            <a:off x="3840480" y="1275060"/>
            <a:ext cx="14554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0" name="Google Shape;540;p73"/>
          <p:cNvSpPr/>
          <p:nvPr/>
        </p:nvSpPr>
        <p:spPr>
          <a:xfrm>
            <a:off x="1992525" y="3082539"/>
            <a:ext cx="2571000" cy="10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73"/>
          <p:cNvSpPr/>
          <p:nvPr/>
        </p:nvSpPr>
        <p:spPr>
          <a:xfrm>
            <a:off x="4569975" y="3082539"/>
            <a:ext cx="2571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73"/>
          <p:cNvSpPr/>
          <p:nvPr/>
        </p:nvSpPr>
        <p:spPr>
          <a:xfrm>
            <a:off x="7147425" y="3082539"/>
            <a:ext cx="2571000" cy="10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73"/>
          <p:cNvSpPr txBox="1">
            <a:spLocks noGrp="1"/>
          </p:cNvSpPr>
          <p:nvPr>
            <p:ph type="title" idx="4294967295"/>
          </p:nvPr>
        </p:nvSpPr>
        <p:spPr>
          <a:xfrm>
            <a:off x="2250075" y="2038839"/>
            <a:ext cx="23199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/>
              <a:t>Code Commit</a:t>
            </a:r>
            <a:endParaRPr sz="2000" b="1" dirty="0"/>
          </a:p>
        </p:txBody>
      </p:sp>
      <p:sp>
        <p:nvSpPr>
          <p:cNvPr id="544" name="Google Shape;544;p73"/>
          <p:cNvSpPr txBox="1">
            <a:spLocks noGrp="1"/>
          </p:cNvSpPr>
          <p:nvPr>
            <p:ph type="subTitle" idx="4294967295"/>
          </p:nvPr>
        </p:nvSpPr>
        <p:spPr>
          <a:xfrm>
            <a:off x="335282" y="2584744"/>
            <a:ext cx="4228242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000" dirty="0"/>
              <a:t>Developers push changes to a shared repository like GitHub or GitLab.</a:t>
            </a:r>
            <a:br>
              <a:rPr lang="en-GB" sz="1000" dirty="0"/>
            </a:br>
            <a:r>
              <a:rPr lang="en-GB" sz="1000" dirty="0"/>
              <a:t>This triggers the CI pipeline to begin automatically.</a:t>
            </a:r>
          </a:p>
        </p:txBody>
      </p:sp>
      <p:sp>
        <p:nvSpPr>
          <p:cNvPr id="546" name="Google Shape;546;p73"/>
          <p:cNvSpPr txBox="1">
            <a:spLocks noGrp="1"/>
          </p:cNvSpPr>
          <p:nvPr>
            <p:ph type="title" idx="4294967295"/>
          </p:nvPr>
        </p:nvSpPr>
        <p:spPr>
          <a:xfrm>
            <a:off x="4827525" y="3763883"/>
            <a:ext cx="2319900" cy="4097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/>
              <a:t>Build</a:t>
            </a:r>
            <a:endParaRPr sz="2000" b="1" dirty="0"/>
          </a:p>
        </p:txBody>
      </p:sp>
      <p:sp>
        <p:nvSpPr>
          <p:cNvPr id="547" name="Google Shape;547;p73"/>
          <p:cNvSpPr txBox="1">
            <a:spLocks noGrp="1"/>
          </p:cNvSpPr>
          <p:nvPr>
            <p:ph type="subTitle" idx="4294967295"/>
          </p:nvPr>
        </p:nvSpPr>
        <p:spPr>
          <a:xfrm>
            <a:off x="3710940" y="3136839"/>
            <a:ext cx="3430035" cy="7316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000" dirty="0"/>
              <a:t>Source code is compiled and dependencies are resolved.</a:t>
            </a:r>
            <a:br>
              <a:rPr lang="en-GB" sz="1000" dirty="0"/>
            </a:br>
            <a:r>
              <a:rPr lang="en-GB" sz="1000" dirty="0"/>
              <a:t>Creates an executable or deployable artifact (e.g., Docker image, JAR file).</a:t>
            </a:r>
            <a:endParaRPr sz="1000" dirty="0"/>
          </a:p>
        </p:txBody>
      </p:sp>
      <p:cxnSp>
        <p:nvCxnSpPr>
          <p:cNvPr id="12" name="Google Shape;559;p74">
            <a:extLst>
              <a:ext uri="{FF2B5EF4-FFF2-40B4-BE49-F238E27FC236}">
                <a16:creationId xmlns:a16="http://schemas.microsoft.com/office/drawing/2014/main" id="{656DCABF-4A74-C705-D97D-6B137A5DE5DC}"/>
              </a:ext>
            </a:extLst>
          </p:cNvPr>
          <p:cNvCxnSpPr/>
          <p:nvPr/>
        </p:nvCxnSpPr>
        <p:spPr>
          <a:xfrm rot="10800000">
            <a:off x="7149615" y="3082539"/>
            <a:ext cx="0" cy="9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med" len="med"/>
          </a:ln>
        </p:spPr>
      </p:cxnSp>
      <p:cxnSp>
        <p:nvCxnSpPr>
          <p:cNvPr id="13" name="Google Shape;563;p74">
            <a:extLst>
              <a:ext uri="{FF2B5EF4-FFF2-40B4-BE49-F238E27FC236}">
                <a16:creationId xmlns:a16="http://schemas.microsoft.com/office/drawing/2014/main" id="{0ABFDE73-FAF5-CC75-F7EA-EBC6843B0A5B}"/>
              </a:ext>
            </a:extLst>
          </p:cNvPr>
          <p:cNvCxnSpPr/>
          <p:nvPr/>
        </p:nvCxnSpPr>
        <p:spPr>
          <a:xfrm rot="10800000">
            <a:off x="4569975" y="2262039"/>
            <a:ext cx="0" cy="9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" name="Google Shape;563;p74">
            <a:extLst>
              <a:ext uri="{FF2B5EF4-FFF2-40B4-BE49-F238E27FC236}">
                <a16:creationId xmlns:a16="http://schemas.microsoft.com/office/drawing/2014/main" id="{64B98A58-D7AC-66A6-5930-F348669865E5}"/>
              </a:ext>
            </a:extLst>
          </p:cNvPr>
          <p:cNvCxnSpPr/>
          <p:nvPr/>
        </p:nvCxnSpPr>
        <p:spPr>
          <a:xfrm rot="10800000">
            <a:off x="9128234" y="2262039"/>
            <a:ext cx="0" cy="9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" name="Google Shape;543;p73">
            <a:extLst>
              <a:ext uri="{FF2B5EF4-FFF2-40B4-BE49-F238E27FC236}">
                <a16:creationId xmlns:a16="http://schemas.microsoft.com/office/drawing/2014/main" id="{CB30D331-F0CA-3CA1-595B-D6F212C9D46D}"/>
              </a:ext>
            </a:extLst>
          </p:cNvPr>
          <p:cNvSpPr txBox="1">
            <a:spLocks/>
          </p:cNvSpPr>
          <p:nvPr/>
        </p:nvSpPr>
        <p:spPr>
          <a:xfrm>
            <a:off x="6801883" y="2038839"/>
            <a:ext cx="23199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pPr algn="r"/>
            <a:r>
              <a:rPr lang="en-IN" sz="2000" b="1" dirty="0"/>
              <a:t>Test</a:t>
            </a:r>
            <a:endParaRPr lang="en" sz="2000" b="1" dirty="0"/>
          </a:p>
        </p:txBody>
      </p:sp>
      <p:sp>
        <p:nvSpPr>
          <p:cNvPr id="3" name="Google Shape;544;p73">
            <a:extLst>
              <a:ext uri="{FF2B5EF4-FFF2-40B4-BE49-F238E27FC236}">
                <a16:creationId xmlns:a16="http://schemas.microsoft.com/office/drawing/2014/main" id="{55005AAC-8D7A-48CE-372F-ECC9BCFC1D46}"/>
              </a:ext>
            </a:extLst>
          </p:cNvPr>
          <p:cNvSpPr txBox="1">
            <a:spLocks/>
          </p:cNvSpPr>
          <p:nvPr/>
        </p:nvSpPr>
        <p:spPr>
          <a:xfrm>
            <a:off x="5113021" y="2564092"/>
            <a:ext cx="4008761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indent="0" algn="r">
              <a:spcAft>
                <a:spcPts val="1200"/>
              </a:spcAft>
              <a:buFont typeface="Questrial"/>
              <a:buNone/>
            </a:pPr>
            <a:r>
              <a:rPr lang="en-GB" sz="1100" dirty="0"/>
              <a:t>Automated tests (unit, integration) are run on the built code.</a:t>
            </a:r>
            <a:br>
              <a:rPr lang="en-GB" sz="1100" dirty="0"/>
            </a:br>
            <a:r>
              <a:rPr lang="en-GB" sz="1100" dirty="0"/>
              <a:t>Helps detect bugs early before deploying further.</a:t>
            </a:r>
            <a:endParaRPr lang="en-GB" sz="1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6E9277-AD41-B21E-D65E-C4251D32C7EB}"/>
              </a:ext>
            </a:extLst>
          </p:cNvPr>
          <p:cNvSpPr/>
          <p:nvPr/>
        </p:nvSpPr>
        <p:spPr>
          <a:xfrm>
            <a:off x="4584309" y="2553767"/>
            <a:ext cx="4461639" cy="484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DDAFAE-2C57-5EBF-0BBB-3340C7BA1376}"/>
              </a:ext>
            </a:extLst>
          </p:cNvPr>
          <p:cNvSpPr/>
          <p:nvPr/>
        </p:nvSpPr>
        <p:spPr>
          <a:xfrm>
            <a:off x="7161696" y="3217838"/>
            <a:ext cx="1982304" cy="57108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66 -0.01235 L -0.00573 -0.01852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25" y="-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659 -0.01235 L -0.00243 -0.00679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51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66 -0.01235 L -0.00729 -0.0179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94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" grpId="0"/>
      <p:bldP spid="540" grpId="0" animBg="1"/>
      <p:bldP spid="541" grpId="0" animBg="1"/>
      <p:bldP spid="542" grpId="0" animBg="1"/>
      <p:bldP spid="543" grpId="0"/>
      <p:bldP spid="544" grpId="0" build="p"/>
      <p:bldP spid="544" grpId="1" build="p"/>
      <p:bldP spid="546" grpId="0"/>
      <p:bldP spid="547" grpId="0" build="p"/>
      <p:bldP spid="547" grpId="1" build="p"/>
      <p:bldP spid="2" grpId="0"/>
      <p:bldP spid="3" grpId="0" build="p"/>
      <p:bldP spid="3" grpI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4"/>
          <p:cNvSpPr txBox="1">
            <a:spLocks noGrp="1"/>
          </p:cNvSpPr>
          <p:nvPr>
            <p:ph type="title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CI/CD Pipeline Stages</a:t>
            </a:r>
          </a:p>
        </p:txBody>
      </p:sp>
      <p:sp>
        <p:nvSpPr>
          <p:cNvPr id="554" name="Google Shape;554;p74"/>
          <p:cNvSpPr/>
          <p:nvPr/>
        </p:nvSpPr>
        <p:spPr>
          <a:xfrm flipH="1">
            <a:off x="4572125" y="3082539"/>
            <a:ext cx="2571000" cy="10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74"/>
          <p:cNvSpPr/>
          <p:nvPr/>
        </p:nvSpPr>
        <p:spPr>
          <a:xfrm flipH="1">
            <a:off x="1994675" y="3082539"/>
            <a:ext cx="2571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74"/>
          <p:cNvSpPr/>
          <p:nvPr/>
        </p:nvSpPr>
        <p:spPr>
          <a:xfrm flipH="1">
            <a:off x="-582775" y="3082539"/>
            <a:ext cx="2571000" cy="10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9" name="Google Shape;559;p74"/>
          <p:cNvCxnSpPr/>
          <p:nvPr/>
        </p:nvCxnSpPr>
        <p:spPr>
          <a:xfrm rot="10800000">
            <a:off x="1994675" y="3082539"/>
            <a:ext cx="0" cy="9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med" len="med"/>
          </a:ln>
        </p:spPr>
      </p:cxnSp>
      <p:sp>
        <p:nvSpPr>
          <p:cNvPr id="560" name="Google Shape;560;p74"/>
          <p:cNvSpPr txBox="1">
            <a:spLocks noGrp="1"/>
          </p:cNvSpPr>
          <p:nvPr>
            <p:ph type="title" idx="4294967295"/>
          </p:nvPr>
        </p:nvSpPr>
        <p:spPr>
          <a:xfrm flipH="1">
            <a:off x="2001125" y="3760959"/>
            <a:ext cx="2319900" cy="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/>
              <a:t>Deploy</a:t>
            </a:r>
            <a:endParaRPr sz="2000" b="1" dirty="0"/>
          </a:p>
        </p:txBody>
      </p:sp>
      <p:sp>
        <p:nvSpPr>
          <p:cNvPr id="561" name="Google Shape;561;p74"/>
          <p:cNvSpPr txBox="1">
            <a:spLocks noGrp="1"/>
          </p:cNvSpPr>
          <p:nvPr>
            <p:ph type="subTitle" idx="4294967295"/>
          </p:nvPr>
        </p:nvSpPr>
        <p:spPr>
          <a:xfrm flipH="1">
            <a:off x="2005895" y="3191139"/>
            <a:ext cx="3919611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 dirty="0"/>
              <a:t>Code is deployed to staging or production environments.</a:t>
            </a:r>
            <a:br>
              <a:rPr lang="en-GB" sz="1100" dirty="0"/>
            </a:br>
            <a:r>
              <a:rPr lang="en-GB" sz="1100" dirty="0"/>
              <a:t>Happens automatically in Continuous Deployment.</a:t>
            </a:r>
            <a:endParaRPr sz="1000" dirty="0"/>
          </a:p>
        </p:txBody>
      </p:sp>
      <p:cxnSp>
        <p:nvCxnSpPr>
          <p:cNvPr id="562" name="Google Shape;562;p74"/>
          <p:cNvCxnSpPr>
            <a:cxnSpLocks/>
          </p:cNvCxnSpPr>
          <p:nvPr/>
        </p:nvCxnSpPr>
        <p:spPr>
          <a:xfrm>
            <a:off x="3848100" y="1275060"/>
            <a:ext cx="1447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3" name="Google Shape;563;p74"/>
          <p:cNvCxnSpPr/>
          <p:nvPr/>
        </p:nvCxnSpPr>
        <p:spPr>
          <a:xfrm rot="10800000">
            <a:off x="4565675" y="2262039"/>
            <a:ext cx="0" cy="9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4" name="Google Shape;563;p74">
            <a:extLst>
              <a:ext uri="{FF2B5EF4-FFF2-40B4-BE49-F238E27FC236}">
                <a16:creationId xmlns:a16="http://schemas.microsoft.com/office/drawing/2014/main" id="{CCF97234-CF87-4427-BB09-DA9D37C19FBF}"/>
              </a:ext>
            </a:extLst>
          </p:cNvPr>
          <p:cNvCxnSpPr/>
          <p:nvPr/>
        </p:nvCxnSpPr>
        <p:spPr>
          <a:xfrm rot="10800000">
            <a:off x="23649" y="2262039"/>
            <a:ext cx="0" cy="929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" name="Google Shape;543;p73">
            <a:extLst>
              <a:ext uri="{FF2B5EF4-FFF2-40B4-BE49-F238E27FC236}">
                <a16:creationId xmlns:a16="http://schemas.microsoft.com/office/drawing/2014/main" id="{22E99090-DEEC-9C78-D63B-1906E0F36028}"/>
              </a:ext>
            </a:extLst>
          </p:cNvPr>
          <p:cNvSpPr txBox="1">
            <a:spLocks/>
          </p:cNvSpPr>
          <p:nvPr/>
        </p:nvSpPr>
        <p:spPr>
          <a:xfrm>
            <a:off x="23648" y="2048124"/>
            <a:ext cx="23199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IN" sz="2000" b="1" dirty="0"/>
              <a:t>Test</a:t>
            </a:r>
            <a:endParaRPr lang="en" sz="2000" b="1" dirty="0"/>
          </a:p>
        </p:txBody>
      </p:sp>
      <p:sp>
        <p:nvSpPr>
          <p:cNvPr id="3" name="Google Shape;544;p73">
            <a:extLst>
              <a:ext uri="{FF2B5EF4-FFF2-40B4-BE49-F238E27FC236}">
                <a16:creationId xmlns:a16="http://schemas.microsoft.com/office/drawing/2014/main" id="{53CE7DE9-ED39-F2C6-5EB2-DBE978D3D9E6}"/>
              </a:ext>
            </a:extLst>
          </p:cNvPr>
          <p:cNvSpPr txBox="1">
            <a:spLocks/>
          </p:cNvSpPr>
          <p:nvPr/>
        </p:nvSpPr>
        <p:spPr>
          <a:xfrm>
            <a:off x="23648" y="2488524"/>
            <a:ext cx="3885410" cy="568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GB" sz="1100" dirty="0"/>
              <a:t>Automated tests (unit, integration) are run on the built code.</a:t>
            </a:r>
            <a:br>
              <a:rPr lang="en-GB" sz="1100" dirty="0"/>
            </a:br>
            <a:r>
              <a:rPr lang="en-GB" sz="1100" dirty="0"/>
              <a:t>Helps detect bugs early before deploying further.</a:t>
            </a:r>
            <a:endParaRPr lang="en-GB" sz="1000" dirty="0"/>
          </a:p>
        </p:txBody>
      </p:sp>
      <p:sp>
        <p:nvSpPr>
          <p:cNvPr id="5" name="Google Shape;543;p73">
            <a:extLst>
              <a:ext uri="{FF2B5EF4-FFF2-40B4-BE49-F238E27FC236}">
                <a16:creationId xmlns:a16="http://schemas.microsoft.com/office/drawing/2014/main" id="{969C66ED-0E88-E303-2C86-D537B0283053}"/>
              </a:ext>
            </a:extLst>
          </p:cNvPr>
          <p:cNvSpPr txBox="1">
            <a:spLocks/>
          </p:cNvSpPr>
          <p:nvPr/>
        </p:nvSpPr>
        <p:spPr>
          <a:xfrm>
            <a:off x="4572125" y="2011347"/>
            <a:ext cx="2319900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IN" sz="2000" b="1" dirty="0"/>
              <a:t>Monitor</a:t>
            </a:r>
            <a:endParaRPr lang="en" sz="2000" b="1" dirty="0"/>
          </a:p>
        </p:txBody>
      </p:sp>
      <p:sp>
        <p:nvSpPr>
          <p:cNvPr id="6" name="Google Shape;544;p73">
            <a:extLst>
              <a:ext uri="{FF2B5EF4-FFF2-40B4-BE49-F238E27FC236}">
                <a16:creationId xmlns:a16="http://schemas.microsoft.com/office/drawing/2014/main" id="{84835137-76E1-3875-7ABA-F8322D958AFF}"/>
              </a:ext>
            </a:extLst>
          </p:cNvPr>
          <p:cNvSpPr txBox="1">
            <a:spLocks/>
          </p:cNvSpPr>
          <p:nvPr/>
        </p:nvSpPr>
        <p:spPr>
          <a:xfrm>
            <a:off x="4565675" y="2524743"/>
            <a:ext cx="3919609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indent="0">
              <a:spcAft>
                <a:spcPts val="1200"/>
              </a:spcAft>
              <a:buFont typeface="Questrial"/>
              <a:buNone/>
            </a:pPr>
            <a:r>
              <a:rPr lang="en-GB" sz="1000" dirty="0"/>
              <a:t>Logs, metrics, and alerts are collected post-deployment. Ensures performance and error tracking in real time.</a:t>
            </a:r>
          </a:p>
        </p:txBody>
      </p:sp>
      <p:cxnSp>
        <p:nvCxnSpPr>
          <p:cNvPr id="7" name="Google Shape;563;p74">
            <a:extLst>
              <a:ext uri="{FF2B5EF4-FFF2-40B4-BE49-F238E27FC236}">
                <a16:creationId xmlns:a16="http://schemas.microsoft.com/office/drawing/2014/main" id="{A15FA603-F1DA-A6BC-E641-DF2BB83DA7B9}"/>
              </a:ext>
            </a:extLst>
          </p:cNvPr>
          <p:cNvCxnSpPr>
            <a:cxnSpLocks/>
          </p:cNvCxnSpPr>
          <p:nvPr/>
        </p:nvCxnSpPr>
        <p:spPr>
          <a:xfrm flipV="1">
            <a:off x="1302824" y="1424940"/>
            <a:ext cx="0" cy="176619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0" name="Google Shape;543;p73">
            <a:extLst>
              <a:ext uri="{FF2B5EF4-FFF2-40B4-BE49-F238E27FC236}">
                <a16:creationId xmlns:a16="http://schemas.microsoft.com/office/drawing/2014/main" id="{2B6BF7F1-558A-87D7-725C-FEF82AC1D341}"/>
              </a:ext>
            </a:extLst>
          </p:cNvPr>
          <p:cNvSpPr txBox="1">
            <a:spLocks/>
          </p:cNvSpPr>
          <p:nvPr/>
        </p:nvSpPr>
        <p:spPr>
          <a:xfrm>
            <a:off x="1302824" y="1188745"/>
            <a:ext cx="2606234" cy="4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ulius Sans One"/>
              <a:buNone/>
              <a:defRPr sz="25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IN" sz="2000" b="1" dirty="0"/>
              <a:t>Approval </a:t>
            </a:r>
            <a:r>
              <a:rPr lang="en-IN" sz="1400" b="1" dirty="0"/>
              <a:t>(Optional)</a:t>
            </a:r>
            <a:endParaRPr lang="en" sz="2000" b="1" dirty="0"/>
          </a:p>
        </p:txBody>
      </p:sp>
      <p:sp>
        <p:nvSpPr>
          <p:cNvPr id="11" name="Google Shape;544;p73">
            <a:extLst>
              <a:ext uri="{FF2B5EF4-FFF2-40B4-BE49-F238E27FC236}">
                <a16:creationId xmlns:a16="http://schemas.microsoft.com/office/drawing/2014/main" id="{82614FE0-020A-4043-06BF-7382798A4439}"/>
              </a:ext>
            </a:extLst>
          </p:cNvPr>
          <p:cNvSpPr txBox="1">
            <a:spLocks/>
          </p:cNvSpPr>
          <p:nvPr/>
        </p:nvSpPr>
        <p:spPr>
          <a:xfrm>
            <a:off x="1337470" y="1587532"/>
            <a:ext cx="3885410" cy="568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●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○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Char char="■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GB" sz="1000" dirty="0"/>
              <a:t>A manual step for code review or stakeholder sign-off. Often used in Continuous Delivery models.</a:t>
            </a:r>
            <a:endParaRPr lang="en-GB" sz="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9A2CA3-BE01-7120-711D-2FA3D79C1FBE}"/>
              </a:ext>
            </a:extLst>
          </p:cNvPr>
          <p:cNvSpPr/>
          <p:nvPr/>
        </p:nvSpPr>
        <p:spPr>
          <a:xfrm>
            <a:off x="-11808" y="3218068"/>
            <a:ext cx="1982304" cy="57108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106E1FD3-404E-7671-1FAD-B356AD791951}"/>
              </a:ext>
            </a:extLst>
          </p:cNvPr>
          <p:cNvSpPr/>
          <p:nvPr/>
        </p:nvSpPr>
        <p:spPr>
          <a:xfrm flipH="1">
            <a:off x="-48241" y="1593474"/>
            <a:ext cx="1324303" cy="484800"/>
          </a:xfrm>
          <a:prstGeom prst="snip1Rect">
            <a:avLst>
              <a:gd name="adj" fmla="val 27236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5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5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" grpId="0" animBg="1"/>
      <p:bldP spid="555" grpId="0" animBg="1"/>
      <p:bldP spid="556" grpId="0" animBg="1"/>
      <p:bldP spid="560" grpId="0"/>
      <p:bldP spid="561" grpId="0"/>
      <p:bldP spid="2" grpId="0"/>
      <p:bldP spid="3" grpId="0"/>
      <p:bldP spid="5" grpId="0"/>
      <p:bldP spid="6" grpId="0"/>
      <p:bldP spid="10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9F85A3-D331-EB06-6204-63EF05DFC905}"/>
              </a:ext>
            </a:extLst>
          </p:cNvPr>
          <p:cNvCxnSpPr>
            <a:cxnSpLocks/>
          </p:cNvCxnSpPr>
          <p:nvPr/>
        </p:nvCxnSpPr>
        <p:spPr>
          <a:xfrm>
            <a:off x="5638800" y="601980"/>
            <a:ext cx="2133600" cy="2217420"/>
          </a:xfrm>
          <a:prstGeom prst="line">
            <a:avLst/>
          </a:prstGeom>
          <a:ln>
            <a:solidFill>
              <a:srgbClr val="EEEEEE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5" name="Picture 14" descr="A diagram of a company&#10;&#10;AI-generated content may be incorrect.">
            <a:extLst>
              <a:ext uri="{FF2B5EF4-FFF2-40B4-BE49-F238E27FC236}">
                <a16:creationId xmlns:a16="http://schemas.microsoft.com/office/drawing/2014/main" id="{3ED3ADC5-B937-B93F-3D20-02CCCABE6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34" y="330994"/>
            <a:ext cx="7967132" cy="4481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9"/>
          <p:cNvSpPr txBox="1">
            <a:spLocks noGrp="1"/>
          </p:cNvSpPr>
          <p:nvPr>
            <p:ph type="ctrTitle"/>
          </p:nvPr>
        </p:nvSpPr>
        <p:spPr>
          <a:xfrm>
            <a:off x="606545" y="1614596"/>
            <a:ext cx="4483615" cy="69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Benefits of CI/CD</a:t>
            </a:r>
            <a:endParaRPr dirty="0"/>
          </a:p>
        </p:txBody>
      </p:sp>
      <p:sp>
        <p:nvSpPr>
          <p:cNvPr id="611" name="Google Shape;611;p79"/>
          <p:cNvSpPr txBox="1">
            <a:spLocks noGrp="1"/>
          </p:cNvSpPr>
          <p:nvPr>
            <p:ph type="subTitle" idx="1"/>
          </p:nvPr>
        </p:nvSpPr>
        <p:spPr>
          <a:xfrm>
            <a:off x="713225" y="2472000"/>
            <a:ext cx="3678000" cy="19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Faster, safer releases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Less manual work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Quick feedback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dirty="0"/>
              <a:t>Improved team productivity</a:t>
            </a:r>
            <a:endParaRPr sz="1600" dirty="0"/>
          </a:p>
        </p:txBody>
      </p:sp>
      <p:cxnSp>
        <p:nvCxnSpPr>
          <p:cNvPr id="612" name="Google Shape;612;p79"/>
          <p:cNvCxnSpPr>
            <a:cxnSpLocks/>
          </p:cNvCxnSpPr>
          <p:nvPr/>
        </p:nvCxnSpPr>
        <p:spPr>
          <a:xfrm>
            <a:off x="713225" y="2310496"/>
            <a:ext cx="1664215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0"/>
          <p:cNvSpPr txBox="1">
            <a:spLocks noGrp="1"/>
          </p:cNvSpPr>
          <p:nvPr>
            <p:ph type="ctrTitle"/>
          </p:nvPr>
        </p:nvSpPr>
        <p:spPr>
          <a:xfrm>
            <a:off x="0" y="861560"/>
            <a:ext cx="5762400" cy="58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Challenges in CI/CD</a:t>
            </a:r>
            <a:endParaRPr dirty="0"/>
          </a:p>
        </p:txBody>
      </p:sp>
      <p:sp>
        <p:nvSpPr>
          <p:cNvPr id="618" name="Google Shape;618;p80"/>
          <p:cNvSpPr txBox="1">
            <a:spLocks noGrp="1"/>
          </p:cNvSpPr>
          <p:nvPr>
            <p:ph type="subTitle" idx="1"/>
          </p:nvPr>
        </p:nvSpPr>
        <p:spPr>
          <a:xfrm>
            <a:off x="763617" y="1727482"/>
            <a:ext cx="5762400" cy="1587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Complex tool integration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Setup costs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Rollbacks and test reliability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Security in pipelines</a:t>
            </a:r>
            <a:endParaRPr sz="1600" dirty="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cxnSp>
        <p:nvCxnSpPr>
          <p:cNvPr id="619" name="Google Shape;619;p80"/>
          <p:cNvCxnSpPr>
            <a:cxnSpLocks/>
          </p:cNvCxnSpPr>
          <p:nvPr/>
        </p:nvCxnSpPr>
        <p:spPr>
          <a:xfrm>
            <a:off x="873975" y="1588986"/>
            <a:ext cx="149873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12"/>
          <p:cNvSpPr txBox="1">
            <a:spLocks noGrp="1"/>
          </p:cNvSpPr>
          <p:nvPr>
            <p:ph type="title"/>
          </p:nvPr>
        </p:nvSpPr>
        <p:spPr>
          <a:xfrm>
            <a:off x="892050" y="530724"/>
            <a:ext cx="7359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Popular Tools (Visual Table)</a:t>
            </a:r>
            <a:endParaRPr dirty="0"/>
          </a:p>
        </p:txBody>
      </p:sp>
      <p:graphicFrame>
        <p:nvGraphicFramePr>
          <p:cNvPr id="1310" name="Google Shape;1310;p112"/>
          <p:cNvGraphicFramePr/>
          <p:nvPr>
            <p:extLst>
              <p:ext uri="{D42A27DB-BD31-4B8C-83A1-F6EECF244321}">
                <p14:modId xmlns:p14="http://schemas.microsoft.com/office/powerpoint/2010/main" val="909162593"/>
              </p:ext>
            </p:extLst>
          </p:nvPr>
        </p:nvGraphicFramePr>
        <p:xfrm>
          <a:off x="952500" y="1548194"/>
          <a:ext cx="7024851" cy="3064571"/>
        </p:xfrm>
        <a:graphic>
          <a:graphicData uri="http://schemas.openxmlformats.org/drawingml/2006/table">
            <a:tbl>
              <a:tblPr>
                <a:noFill/>
                <a:tableStyleId>{47C10AD4-9AFF-4263-9148-8BB00D834B25}</a:tableStyleId>
              </a:tblPr>
              <a:tblGrid>
                <a:gridCol w="2341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0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Tool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92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Highlights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292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82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Jenkins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CI/CD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Open-source, customizable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46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GitHub Actions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CI/CD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Native to GitHub, easy to use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824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GitLab CI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CI/CD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Integrated in GitLab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46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ArgoCD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CD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Kubernetes-native deployment</a:t>
                      </a:r>
                    </a:p>
                  </a:txBody>
                  <a:tcPr anchor="ctr">
                    <a:lnL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311" name="Google Shape;1311;p112"/>
          <p:cNvCxnSpPr>
            <a:cxnSpLocks/>
          </p:cNvCxnSpPr>
          <p:nvPr/>
        </p:nvCxnSpPr>
        <p:spPr>
          <a:xfrm>
            <a:off x="3463590" y="1263460"/>
            <a:ext cx="202281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93"/>
          <p:cNvSpPr txBox="1">
            <a:spLocks noGrp="1"/>
          </p:cNvSpPr>
          <p:nvPr>
            <p:ph type="subTitle" idx="1"/>
          </p:nvPr>
        </p:nvSpPr>
        <p:spPr>
          <a:xfrm>
            <a:off x="713225" y="29258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Thousands of daily deployments</a:t>
            </a:r>
            <a:endParaRPr dirty="0"/>
          </a:p>
        </p:txBody>
      </p:sp>
      <p:sp>
        <p:nvSpPr>
          <p:cNvPr id="754" name="Google Shape;754;p93"/>
          <p:cNvSpPr txBox="1">
            <a:spLocks noGrp="1"/>
          </p:cNvSpPr>
          <p:nvPr>
            <p:ph type="subTitle" idx="3"/>
          </p:nvPr>
        </p:nvSpPr>
        <p:spPr>
          <a:xfrm>
            <a:off x="5948232" y="2925850"/>
            <a:ext cx="2539001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Fast testing and delivery using GitHub Actions and Docker</a:t>
            </a:r>
            <a:endParaRPr dirty="0"/>
          </a:p>
        </p:txBody>
      </p:sp>
      <p:sp>
        <p:nvSpPr>
          <p:cNvPr id="758" name="Google Shape;758;p93"/>
          <p:cNvSpPr txBox="1">
            <a:spLocks noGrp="1"/>
          </p:cNvSpPr>
          <p:nvPr>
            <p:ph type="subTitle" idx="5"/>
          </p:nvPr>
        </p:nvSpPr>
        <p:spPr>
          <a:xfrm>
            <a:off x="3358950" y="2925850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Uses Spinnaker for fully automated CD</a:t>
            </a:r>
            <a:endParaRPr dirty="0"/>
          </a:p>
        </p:txBody>
      </p:sp>
      <p:cxnSp>
        <p:nvCxnSpPr>
          <p:cNvPr id="759" name="Google Shape;759;p93"/>
          <p:cNvCxnSpPr/>
          <p:nvPr/>
        </p:nvCxnSpPr>
        <p:spPr>
          <a:xfrm>
            <a:off x="3249964" y="1813000"/>
            <a:ext cx="0" cy="222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0" name="Google Shape;760;p93"/>
          <p:cNvCxnSpPr/>
          <p:nvPr/>
        </p:nvCxnSpPr>
        <p:spPr>
          <a:xfrm>
            <a:off x="5896826" y="1813000"/>
            <a:ext cx="0" cy="2225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1" name="Google Shape;761;p93"/>
          <p:cNvSpPr txBox="1">
            <a:spLocks noGrp="1"/>
          </p:cNvSpPr>
          <p:nvPr>
            <p:ph type="title" idx="6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lt1"/>
                </a:solidFill>
              </a:rPr>
              <a:t>Real-world Use Cases</a:t>
            </a:r>
          </a:p>
        </p:txBody>
      </p:sp>
      <p:cxnSp>
        <p:nvCxnSpPr>
          <p:cNvPr id="762" name="Google Shape;762;p93"/>
          <p:cNvCxnSpPr>
            <a:cxnSpLocks/>
          </p:cNvCxnSpPr>
          <p:nvPr/>
        </p:nvCxnSpPr>
        <p:spPr>
          <a:xfrm>
            <a:off x="3805022" y="1275060"/>
            <a:ext cx="153168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329B2F1-02D3-F2E0-0098-CE151E36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267" y="1812155"/>
            <a:ext cx="647095" cy="6470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7D845D-2CFE-6981-023D-F82FC0D18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700" y="1812155"/>
            <a:ext cx="648000" cy="648000"/>
          </a:xfrm>
          <a:prstGeom prst="rect">
            <a:avLst/>
          </a:prstGeom>
        </p:spPr>
      </p:pic>
      <p:sp>
        <p:nvSpPr>
          <p:cNvPr id="2" name="Google Shape;696;p89">
            <a:extLst>
              <a:ext uri="{FF2B5EF4-FFF2-40B4-BE49-F238E27FC236}">
                <a16:creationId xmlns:a16="http://schemas.microsoft.com/office/drawing/2014/main" id="{01979F9A-B9D2-EB29-D756-72E7EB0AE4A1}"/>
              </a:ext>
            </a:extLst>
          </p:cNvPr>
          <p:cNvSpPr txBox="1">
            <a:spLocks/>
          </p:cNvSpPr>
          <p:nvPr/>
        </p:nvSpPr>
        <p:spPr>
          <a:xfrm>
            <a:off x="1160433" y="2595760"/>
            <a:ext cx="1531683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1" i="0" u="none" strike="noStrike" cap="none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IN" dirty="0"/>
              <a:t>AMAZON</a:t>
            </a:r>
          </a:p>
        </p:txBody>
      </p:sp>
      <p:sp>
        <p:nvSpPr>
          <p:cNvPr id="4" name="Google Shape;696;p89">
            <a:extLst>
              <a:ext uri="{FF2B5EF4-FFF2-40B4-BE49-F238E27FC236}">
                <a16:creationId xmlns:a16="http://schemas.microsoft.com/office/drawing/2014/main" id="{30FCF144-E303-9F46-7B26-E4275106D04F}"/>
              </a:ext>
            </a:extLst>
          </p:cNvPr>
          <p:cNvSpPr txBox="1">
            <a:spLocks/>
          </p:cNvSpPr>
          <p:nvPr/>
        </p:nvSpPr>
        <p:spPr>
          <a:xfrm>
            <a:off x="3805022" y="2610770"/>
            <a:ext cx="1531683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1" i="0" u="none" strike="noStrike" cap="none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IN" dirty="0"/>
              <a:t>NETFLIX</a:t>
            </a:r>
          </a:p>
        </p:txBody>
      </p:sp>
      <p:sp>
        <p:nvSpPr>
          <p:cNvPr id="6" name="Google Shape;696;p89">
            <a:extLst>
              <a:ext uri="{FF2B5EF4-FFF2-40B4-BE49-F238E27FC236}">
                <a16:creationId xmlns:a16="http://schemas.microsoft.com/office/drawing/2014/main" id="{B04BDC30-351B-37DA-9690-BE1C852F4A8A}"/>
              </a:ext>
            </a:extLst>
          </p:cNvPr>
          <p:cNvSpPr txBox="1">
            <a:spLocks/>
          </p:cNvSpPr>
          <p:nvPr/>
        </p:nvSpPr>
        <p:spPr>
          <a:xfrm>
            <a:off x="6451884" y="2634399"/>
            <a:ext cx="1531683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1" i="0" u="none" strike="noStrike" cap="none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ulius Sans One"/>
              <a:buNone/>
              <a:defRPr sz="1800" b="0" i="0" u="none" strike="noStrike" cap="none">
                <a:solidFill>
                  <a:schemeClr val="dk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IN" dirty="0"/>
              <a:t>START-UP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4AA95-5C6C-E13C-644D-EF42B12C4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450" y="1811250"/>
            <a:ext cx="648000" cy="6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75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7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7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1"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" grpId="0" build="p"/>
      <p:bldP spid="754" grpId="0" build="p"/>
      <p:bldP spid="758" grpId="0" build="p"/>
      <p:bldP spid="761" grpId="0"/>
      <p:bldP spid="2" grpId="0"/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9"/>
          <p:cNvSpPr txBox="1">
            <a:spLocks noGrp="1"/>
          </p:cNvSpPr>
          <p:nvPr>
            <p:ph type="title"/>
          </p:nvPr>
        </p:nvSpPr>
        <p:spPr>
          <a:xfrm>
            <a:off x="1451894" y="1785425"/>
            <a:ext cx="2320006" cy="64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/>
              <a:t>CI/CD is a key part of modern DevOps</a:t>
            </a:r>
            <a:endParaRPr lang="en-IN" sz="1500" dirty="0"/>
          </a:p>
        </p:txBody>
      </p:sp>
      <p:sp>
        <p:nvSpPr>
          <p:cNvPr id="694" name="Google Shape;694;p89"/>
          <p:cNvSpPr txBox="1">
            <a:spLocks noGrp="1"/>
          </p:cNvSpPr>
          <p:nvPr>
            <p:ph type="title" idx="2"/>
          </p:nvPr>
        </p:nvSpPr>
        <p:spPr>
          <a:xfrm>
            <a:off x="2674124" y="4025021"/>
            <a:ext cx="3191517" cy="7755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/>
              <a:t>With the right setup, it can </a:t>
            </a:r>
            <a:r>
              <a:rPr lang="en-GB" sz="1500" b="1" dirty="0"/>
              <a:t>transform development processes</a:t>
            </a:r>
            <a:endParaRPr sz="1500" dirty="0"/>
          </a:p>
        </p:txBody>
      </p:sp>
      <p:sp>
        <p:nvSpPr>
          <p:cNvPr id="696" name="Google Shape;696;p89"/>
          <p:cNvSpPr txBox="1">
            <a:spLocks noGrp="1"/>
          </p:cNvSpPr>
          <p:nvPr>
            <p:ph type="title" idx="4"/>
          </p:nvPr>
        </p:nvSpPr>
        <p:spPr>
          <a:xfrm>
            <a:off x="4587885" y="2659411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It improves</a:t>
            </a:r>
            <a:endParaRPr dirty="0"/>
          </a:p>
        </p:txBody>
      </p:sp>
      <p:sp>
        <p:nvSpPr>
          <p:cNvPr id="697" name="Google Shape;697;p89"/>
          <p:cNvSpPr txBox="1">
            <a:spLocks noGrp="1"/>
          </p:cNvSpPr>
          <p:nvPr>
            <p:ph type="subTitle" idx="5"/>
          </p:nvPr>
        </p:nvSpPr>
        <p:spPr>
          <a:xfrm>
            <a:off x="4587887" y="2934861"/>
            <a:ext cx="2221500" cy="8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dirty="0"/>
              <a:t>Speed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dirty="0"/>
              <a:t>Reliability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dirty="0"/>
              <a:t>software quality</a:t>
            </a:r>
            <a:endParaRPr dirty="0"/>
          </a:p>
        </p:txBody>
      </p:sp>
      <p:sp>
        <p:nvSpPr>
          <p:cNvPr id="701" name="Google Shape;701;p89"/>
          <p:cNvSpPr/>
          <p:nvPr/>
        </p:nvSpPr>
        <p:spPr>
          <a:xfrm rot="5400000">
            <a:off x="2126624" y="4283025"/>
            <a:ext cx="835500" cy="259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89"/>
          <p:cNvSpPr/>
          <p:nvPr/>
        </p:nvSpPr>
        <p:spPr>
          <a:xfrm rot="5400000">
            <a:off x="3960450" y="2947549"/>
            <a:ext cx="835500" cy="259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89"/>
          <p:cNvSpPr/>
          <p:nvPr/>
        </p:nvSpPr>
        <p:spPr>
          <a:xfrm rot="5400000">
            <a:off x="799684" y="1969363"/>
            <a:ext cx="835500" cy="2595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04" name="Google Shape;704;p89"/>
          <p:cNvCxnSpPr>
            <a:cxnSpLocks/>
          </p:cNvCxnSpPr>
          <p:nvPr/>
        </p:nvCxnSpPr>
        <p:spPr>
          <a:xfrm>
            <a:off x="4030980" y="1275060"/>
            <a:ext cx="108966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5" name="Google Shape;705;p89"/>
          <p:cNvSpPr txBox="1">
            <a:spLocks noGrp="1"/>
          </p:cNvSpPr>
          <p:nvPr>
            <p:ph type="title" idx="8"/>
          </p:nvPr>
        </p:nvSpPr>
        <p:spPr>
          <a:xfrm>
            <a:off x="713225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75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4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52 -0.00124 L -0.00052 0.00154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4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52 -0.00124 L -0.00052 0.00154 " pathEditMode="relative" rAng="0" ptsTypes="AA">
                                      <p:cBhvr>
                                        <p:cTn id="33" dur="750" fill="hold"/>
                                        <p:tgtEl>
                                          <p:spTgt spid="6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9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6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6 -0.10092 L -2.77778E-7 -1.85185E-6 " pathEditMode="relative" rAng="0" ptsTypes="AA">
                                      <p:cBhvr>
                                        <p:cTn id="39" dur="9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4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41 0.00154 L -0.00052 0.00154 " pathEditMode="relative" rAng="0" ptsTypes="AA">
                                      <p:cBhvr>
                                        <p:cTn id="51" dur="75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" grpId="0"/>
      <p:bldP spid="692" grpId="1"/>
      <p:bldP spid="694" grpId="0"/>
      <p:bldP spid="694" grpId="1"/>
      <p:bldP spid="696" grpId="0"/>
      <p:bldP spid="696" grpId="1"/>
      <p:bldP spid="697" grpId="0"/>
      <p:bldP spid="697" grpId="1"/>
      <p:bldP spid="701" grpId="0" animBg="1"/>
      <p:bldP spid="702" grpId="0" animBg="1"/>
      <p:bldP spid="700" grpId="0" animBg="1"/>
      <p:bldP spid="7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20"/>
          <p:cNvSpPr txBox="1">
            <a:spLocks noGrp="1"/>
          </p:cNvSpPr>
          <p:nvPr>
            <p:ph type="title"/>
          </p:nvPr>
        </p:nvSpPr>
        <p:spPr>
          <a:xfrm>
            <a:off x="713250" y="672738"/>
            <a:ext cx="7717500" cy="129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1472" name="Google Shape;1472;p120"/>
          <p:cNvSpPr txBox="1">
            <a:spLocks noGrp="1"/>
          </p:cNvSpPr>
          <p:nvPr>
            <p:ph type="body" idx="1"/>
          </p:nvPr>
        </p:nvSpPr>
        <p:spPr>
          <a:xfrm>
            <a:off x="3068250" y="2129522"/>
            <a:ext cx="3007500" cy="6518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vaibuk1234@gmail.com</a:t>
            </a:r>
            <a:endParaRPr dirty="0">
              <a:solidFill>
                <a:schemeClr val="accent5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+91 83108 97169</a:t>
            </a:r>
            <a:endParaRPr dirty="0">
              <a:solidFill>
                <a:schemeClr val="accent5"/>
              </a:solidFill>
            </a:endParaRPr>
          </a:p>
        </p:txBody>
      </p:sp>
      <p:sp>
        <p:nvSpPr>
          <p:cNvPr id="1473" name="Google Shape;1473;p120"/>
          <p:cNvSpPr txBox="1">
            <a:spLocks noGrp="1"/>
          </p:cNvSpPr>
          <p:nvPr>
            <p:ph type="subTitle" idx="2"/>
          </p:nvPr>
        </p:nvSpPr>
        <p:spPr>
          <a:xfrm>
            <a:off x="3068250" y="1773362"/>
            <a:ext cx="30075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Do you have any questions?</a:t>
            </a:r>
            <a:endParaRPr dirty="0">
              <a:solidFill>
                <a:schemeClr val="accent5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accent5"/>
              </a:solidFill>
            </a:endParaRPr>
          </a:p>
        </p:txBody>
      </p:sp>
      <p:sp>
        <p:nvSpPr>
          <p:cNvPr id="1475" name="Google Shape;1475;p120"/>
          <p:cNvSpPr/>
          <p:nvPr/>
        </p:nvSpPr>
        <p:spPr>
          <a:xfrm>
            <a:off x="3949684" y="3014949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476" name="Google Shape;1476;p120"/>
          <p:cNvGrpSpPr/>
          <p:nvPr/>
        </p:nvGrpSpPr>
        <p:grpSpPr>
          <a:xfrm>
            <a:off x="4399156" y="3014949"/>
            <a:ext cx="346056" cy="345674"/>
            <a:chOff x="3303268" y="3817349"/>
            <a:chExt cx="346056" cy="345674"/>
          </a:xfrm>
        </p:grpSpPr>
        <p:sp>
          <p:nvSpPr>
            <p:cNvPr id="1477" name="Google Shape;1477;p120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8" name="Google Shape;1478;p120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9" name="Google Shape;1479;p120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0" name="Google Shape;1480;p120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81" name="Google Shape;1481;p120"/>
          <p:cNvGrpSpPr/>
          <p:nvPr/>
        </p:nvGrpSpPr>
        <p:grpSpPr>
          <a:xfrm>
            <a:off x="4848245" y="3014949"/>
            <a:ext cx="346056" cy="345674"/>
            <a:chOff x="3752358" y="3817349"/>
            <a:chExt cx="346056" cy="345674"/>
          </a:xfrm>
        </p:grpSpPr>
        <p:sp>
          <p:nvSpPr>
            <p:cNvPr id="1482" name="Google Shape;1482;p120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3" name="Google Shape;1483;p120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4" name="Google Shape;1484;p120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5" name="Google Shape;1485;p120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4FE13ED-3DAE-F97F-52B8-A973DC695D99}"/>
              </a:ext>
            </a:extLst>
          </p:cNvPr>
          <p:cNvSpPr/>
          <p:nvPr/>
        </p:nvSpPr>
        <p:spPr>
          <a:xfrm>
            <a:off x="2621280" y="3467100"/>
            <a:ext cx="3878580" cy="4296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1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1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Grayscale Pitch Deck XL by Slidesgo">
  <a:themeElements>
    <a:clrScheme name="Simple Light">
      <a:dk1>
        <a:srgbClr val="000000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467</Words>
  <Application>Microsoft Office PowerPoint</Application>
  <PresentationFormat>On-screen Show (16:9)</PresentationFormat>
  <Paragraphs>82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Didact Gothic</vt:lpstr>
      <vt:lpstr>Wingdings</vt:lpstr>
      <vt:lpstr>Times New Roman</vt:lpstr>
      <vt:lpstr>Montserrat</vt:lpstr>
      <vt:lpstr>Arial</vt:lpstr>
      <vt:lpstr>Questrial</vt:lpstr>
      <vt:lpstr>Calibri</vt:lpstr>
      <vt:lpstr>Julius Sans One</vt:lpstr>
      <vt:lpstr>Minimalist Grayscale Pitch Deck XL by Slidesgo</vt:lpstr>
      <vt:lpstr>CI/CD: Automating the Software Development Lifecycle</vt:lpstr>
      <vt:lpstr>What is CI/CD?</vt:lpstr>
      <vt:lpstr>What is Continuous Integration (CI)?</vt:lpstr>
      <vt:lpstr>PowerPoint Presentation</vt:lpstr>
      <vt:lpstr>PowerPoint Presentation</vt:lpstr>
      <vt:lpstr>Delivery</vt:lpstr>
      <vt:lpstr>CI/CD Pipeline Stages</vt:lpstr>
      <vt:lpstr>CI/CD Pipeline Stages</vt:lpstr>
      <vt:lpstr>PowerPoint Presentation</vt:lpstr>
      <vt:lpstr>Benefits of CI/CD</vt:lpstr>
      <vt:lpstr>Challenges in CI/CD</vt:lpstr>
      <vt:lpstr>Popular Tools (Visual Table)</vt:lpstr>
      <vt:lpstr>Real-world Use Cases</vt:lpstr>
      <vt:lpstr>CI/CD is a key part of modern DevOps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vaibhav karbhantnal</dc:creator>
  <cp:lastModifiedBy>vaibhav karbhantnal</cp:lastModifiedBy>
  <cp:revision>55</cp:revision>
  <dcterms:modified xsi:type="dcterms:W3CDTF">2025-05-31T03:46:38Z</dcterms:modified>
</cp:coreProperties>
</file>